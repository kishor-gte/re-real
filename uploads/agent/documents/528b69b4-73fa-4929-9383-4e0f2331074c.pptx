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 (₹ Cr)</c:v>
                </c:pt>
              </c:strCache>
            </c:strRef>
          </c:tx>
          <c:spPr>
            <a:solidFill>
              <a:srgbClr val="F46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A6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</c:v>
                </c:pt>
                <c:pt idx="1">
                  <c:v>0.8</c:v>
                </c:pt>
                <c:pt idx="2">
                  <c:v>3.24</c:v>
                </c:pt>
                <c:pt idx="3">
                  <c:v>8.25</c:v>
                </c:pt>
                <c:pt idx="4">
                  <c:v>15.27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A6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F4622A">
              <a:alpha val="12000"/>
            </a:srgbClr>
          </a:solidFill>
          <a:ln w="12700">
            <a:solidFill>
              <a:srgbClr val="F4622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YARAA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 Flame. Fame.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agency-led live social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platform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920240" cy="41148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Crore Ask  ·  10–15% Equity  ·  May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005840"/>
            <a:ext cx="301752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005840"/>
            <a:ext cx="54864" cy="100584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3" name="Text 11"/>
          <p:cNvSpPr/>
          <p:nvPr/>
        </p:nvSpPr>
        <p:spPr>
          <a:xfrm>
            <a:off x="5797296" y="10607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$20.8B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97296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live-stream by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148840"/>
            <a:ext cx="301752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148840"/>
            <a:ext cx="54864" cy="100584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7" name="Text 15"/>
          <p:cNvSpPr/>
          <p:nvPr/>
        </p:nvSpPr>
        <p:spPr>
          <a:xfrm>
            <a:off x="5797296" y="22037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97296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CAGR 2024–2030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291840"/>
            <a:ext cx="301752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291840"/>
            <a:ext cx="54864" cy="100584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296" y="33467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dominant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97296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live-gifting platforms in India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contact@vyaraa.com  ·  AlphaNumero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incumbent is gone.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₹9,000+ Cr live streaming market has no dominant local platform.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965960" cy="25603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BIGO 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229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31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De-listed from Google Play &amp; App Store globally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 2024). NYT child-safety investigation.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874520"/>
            <a:ext cx="1965960" cy="25603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8745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97480" y="2331720"/>
            <a:ext cx="8229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331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26700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Google Play Store Aug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content policy violations.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1965960" cy="25603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1965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CHINGARI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331720"/>
            <a:ext cx="822960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31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6700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53% in FY25 to ₹44 Cr.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₹1.20 to earn ₹1 of revenue.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874520"/>
            <a:ext cx="1965960" cy="25603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87452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ELOELO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95160" y="2331720"/>
            <a:ext cx="822960" cy="2194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2331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95160" y="26700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$230M ARR from micro-drama,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live streaming. Different product.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Entrackr RoC filings Mar 2026 · Hunterbrook/NYT Dec 2024 · Inc42 Apr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creators can't earn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they're famous.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105156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2359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CREATORS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less than $1,000 a year globally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54864" cy="105156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8032" y="2359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NEEDED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earning a single rupee on YouTube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54864" cy="105156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" y="3639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NEEDED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brands approach you on Instagram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08960"/>
            <a:ext cx="54864" cy="105156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months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28032" y="3639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8032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creator to earn their first dollar on any platform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DemandSage 2026 · MBO Partners Creator Economy Report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VYARAA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 earns real money on their first live stream. Even with 10 viewers.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2697480" cy="4572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Agency-First Onboarding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27685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10 agencies. Each brings 20 creators. Agencies earn 10–15% of creator revenue. They become your field sales team.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87452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74520"/>
            <a:ext cx="2697480" cy="4572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Gifting + PK Battles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27685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buy coins, send animated gifts to creators. PK Battles pit two creators head-to-head — highest ARPPU mechanic in the industry.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74520"/>
            <a:ext cx="2697480" cy="4572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Clip Discovery Feed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27648" y="227685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post 30–60s clips from past streams. Viewers discover, follow, then join live rooms and gift. Bridges short-video and live.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 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69417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Kannada, Marathi, Bhojpuri. Separate browse tabs per language. Tier-2/3 India is the largest untapped creator pool.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329184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329184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33832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Creator Boost Pool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47288" y="369417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days: VYARAA co-gifts up to ₹500/month per creator. 500 creators = ₹2.5L/month max exposure, budgeted in Use of Funds under Creator Onboarding. Sunset after Day 30.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291840"/>
            <a:ext cx="2697480" cy="1234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29184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327648" y="33832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Advertising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3694176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ads (Google AdX/InMobi) + sponsored PK Battles + creator brand marketplace. At 1M DAU = ₹6 Cr/month ad revenue.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Live gifting (launch)   →   Phase 2: Advertising (Month 12+)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ECONOMY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money in → Virtual currency → Creator earnings → Cash out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508760" cy="2331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170432"/>
            <a:ext cx="548640" cy="54864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buys coins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267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= 1,000 coins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cards / wallets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rot="2700000">
            <a:off x="2029968" y="1828800"/>
            <a:ext cx="201168" cy="20116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1234440"/>
            <a:ext cx="1508760" cy="2331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1170432"/>
            <a:ext cx="548640" cy="54864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2199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→ gifts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21992" y="2267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₹2 → Heart Castle ₹180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tiers, 25 gifts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2700000">
            <a:off x="3721608" y="1828800"/>
            <a:ext cx="201168" cy="20116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234440"/>
            <a:ext cx="1508760" cy="2331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5968" y="1170432"/>
            <a:ext cx="548640" cy="54864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20" name="Text 18"/>
          <p:cNvSpPr/>
          <p:nvPr/>
        </p:nvSpPr>
        <p:spPr>
          <a:xfrm>
            <a:off x="431596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363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during live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13632" y="2267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on screen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2700000">
            <a:off x="5413248" y="1828800"/>
            <a:ext cx="201168" cy="20116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32120" y="1234440"/>
            <a:ext cx="1508760" cy="2331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1170432"/>
            <a:ext cx="548640" cy="54864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0527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earns 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05272" y="2267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conversion rate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2700000">
            <a:off x="7104888" y="1828800"/>
            <a:ext cx="201168" cy="20116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0" name="Shape 28"/>
          <p:cNvSpPr/>
          <p:nvPr/>
        </p:nvSpPr>
        <p:spPr>
          <a:xfrm>
            <a:off x="7223760" y="1234440"/>
            <a:ext cx="1508760" cy="2331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9248" y="1170432"/>
            <a:ext cx="548640" cy="54864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32" name="Text 30"/>
          <p:cNvSpPr/>
          <p:nvPr/>
        </p:nvSpPr>
        <p:spPr>
          <a:xfrm>
            <a:off x="769924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9691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96912" y="2267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min payout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bank / UPI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User sends ₹100 gift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576072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0050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 70%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4005072"/>
            <a:ext cx="1234440" cy="38404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40050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15%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4005072"/>
            <a:ext cx="987552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400507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 12%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39912" y="4005072"/>
            <a:ext cx="246888" cy="38404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catalog: 25 gifts across 5 tiers  ·  ₹0.8 (Wave) to ₹180 (Heart Castle)  ·  Psychological price ceilings at ₹100 &amp; ₹200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₹9,000+ Cr opportunity with no dominant player.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live-stream market 2030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₹1,73,000 Cr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2221992"/>
            <a:ext cx="6400800" cy="74980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267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569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entertainment + gifting (India + SEA + MENA)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23134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₹52,000 Cr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0" y="3118104"/>
            <a:ext cx="4572000" cy="749808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3163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3465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VYARAA 3–5 year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2095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₹520 Cr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live-stream CAGR 2024–30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0604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internet users 2025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CAGR 2024–28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₹2,200Cr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influencer mktg 2024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4846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2025 · DemandSage 2026 · Coherent Market Insights 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revenue phases — one flywheel.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3520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77640" cy="54864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LAUNCH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Gifting Economy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purchases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2295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cut of all gifts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606040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42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commissions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" y="2816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10–12% of creator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127248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163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Battle fees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3337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hosts tournament brackets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648456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685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ads (M12+)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" y="38587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AdX / InMobi integration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1188720"/>
            <a:ext cx="3977640" cy="35204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188720"/>
            <a:ext cx="39776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SCALE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91456" y="1536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 Economy Layer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91456" y="2084832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 marketplace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2295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commission on all deals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91456" y="2606040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901184" y="2642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PK Battles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01184" y="2816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₹50K–5L per sponsored battle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91456" y="3127248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3163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paid video calls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3337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cut on private calls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91456" y="3648456"/>
            <a:ext cx="374904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901184" y="3685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subscriptions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01184" y="38587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fan subscription cut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1M DAU: gifting ₹3 Cr/mo (30% take) + advertising ₹6 Cr/mo + brand deals ₹80L/mo = ₹9.8+ Cr monthly revenue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the agencies. The creators follow. The users follow the creators.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34290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2697480" cy="54864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creator supply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10 agencies across Bhojpuri, Tamil comedy, UP cooking, astrology niches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200 creators via agencies — they do the field work, we pay 10–15% rev share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Creator Boost: ₹500/month co-gifting per creator for first 30 days — budgeted in Use of Funds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40965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200 creators live · 3,000 registered users · 30 paying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298448"/>
            <a:ext cx="2697480" cy="34290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98448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47288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 the gifting 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47288" y="201168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PK Battle tournaments — top creators compete, viewers gift tribally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short clip discovery feed alongside live rooms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tabs live: Hindi + Tamil + Telugu + Kannada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47288" y="40965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50,000 registered · 750 paying · ₹6.5L GMV · ₹1L platform revenue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2697480" cy="34290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98448"/>
            <a:ext cx="2697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27648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Monetise the audience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201168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Google AdX programmatic — pre-roll on room entry, overlay banners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creator analytics dashboard — retain top 10% of creators driving 40% GMV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brand deals via agency introductions (FMCG, D2C, regional brands)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27648" y="40965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2,00,000 registered · 3,000 paying · ₹1.1 Cr GMV · Seed A ready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Market-sourced. Eloelo FY25 audited as benchmark.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Eloelo FY25 audited: ₹69.5 Cr revenue · 1.5M paying / 90M registered = 1.67% conversion · ₹4,633/yr ARPPU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5216" y="2075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(APAC MOBILE)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install · BusinessOfApps 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173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65576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65576" y="2075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CONVERSION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65576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registered users · Eloelo benchmark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173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₹5,200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45936" y="2075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PAYING USER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45936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1.5% conversion on ₹78 CPI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889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₹3,500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85216" y="3447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ARPPU YEAR 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paying user per year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27889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27889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465576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₹4,200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465576" y="3447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ARPPU YEAR 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65576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platform matures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788920"/>
            <a:ext cx="26974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278892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₹10,500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345936" y="3447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(3YR, 25% CHURN)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45936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paying user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297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4297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 2.0×  (invest and grow)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 3.8×  (healthy and scaling)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Conservative. Market-sourced. Paying users explicit.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5760720" cy="2606040"/>
        </p:xfrm>
        <a:graphic>
          <a:graphicData uri="http://schemas.openxmlformats.org/drawingml/2006/table">
            <a:tbl>
              <a:tblPr/>
              <a:tblGrid>
                <a:gridCol w="457200"/>
                <a:gridCol w="658368"/>
                <a:gridCol w="749808"/>
                <a:gridCol w="713232"/>
                <a:gridCol w="713232"/>
                <a:gridCol w="749808"/>
                <a:gridCol w="713232"/>
                <a:gridCol w="73152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Registered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Paying 1.5%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ARPPU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GMV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Plat 30%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Ad Rev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Y1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100K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1,500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₹3,500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₹0.5Cr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₹0.15Cr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₹0.15Cr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Y2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350K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5,250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₹3,800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₹2.0Cr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₹0.6Cr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₹0.2Cr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₹0.8Cr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Y3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800K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12,000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₹4,000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₹4.8Cr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₹1.44Cr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₹1.8Cr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₹3.24Cr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Y4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1.5M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22,500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₹4,200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₹9.5Cr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₹2.85Cr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2F4F8"/>
                          </a:solidFill>
                        </a:rPr>
                        <a:t>₹5.4Cr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₹8.25Cr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Y5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2.5M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37,500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₹4,500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₹16.9Cr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₹5.07Cr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₹10.2Cr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₹15.27Cr</a:t>
                      </a:r>
                      <a:endParaRPr lang="en-US" sz="950" dirty="0"/>
                    </a:p>
                  </a:txBody>
                  <a:tcPr marL="38100" marR="381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355080" y="1170432"/>
          <a:ext cx="2514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take on gifting GMV (creator gets 55% — best in market). Ad revenue starts Month 12 via Google AdX. Brand deals excluded (upside).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Eloelo FY25 ₹69.5 Cr audited on similar conversion &amp; ARPPU profile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has cleared. VYARAA's 5 edges.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9748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3258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Agency-First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67335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agency onboarding layer. No competitor has this. Agencies do creator acquisition for us — massively cheaper than individual outreach.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9748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3258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India-First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65576" y="167335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parent. No Chinese data risk. RBI PA-PG licensed payment flow. Online Gaming Act 2025 compliant from Day 1.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69748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34440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3258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Gifting + Advertising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167335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gifting platforms cap out at ~₹3 Cr/month. Adding advertising at 1M DAU generates ₹6 Cr/month on top. The combination is unmatched in India.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269748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79192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7706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Day 1 Monetization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" y="31181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 earns real money on their first stream with 10 viewers. No follower minimums. No waiting 18 months. This is the supply-side unlock.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2679192"/>
            <a:ext cx="269748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679192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465576" y="27706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Regional from 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65576" y="31181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Indian languages on Day 1. Not as a Phase 2 feature. The next 200M Indian internet users are not Hindi-first urban — they're Bhojpuri, Kannada, Marathi.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679192"/>
            <a:ext cx="2487168" cy="1261872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81928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Eloelo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063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Live-first, not gaming-first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1928" y="33192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Creator-led, not content-led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81928" y="3575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Gifting + ads, not ads-only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already solved for the law others ignored.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931920" cy="132588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1389888"/>
            <a:ext cx="804672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89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216" y="13898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Gaming Act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FORCE 1 MAY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5216" y="189280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VYARAA has no real-money games, casino mechanics, or staking features. Gift-based entertainment is explicitly outside the Act's scope.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3931920" cy="132588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26680" y="1389888"/>
            <a:ext cx="804672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1389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37176" y="13898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PA-PG 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COIN PURCHASES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37176" y="189280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 ₹15L in use-of-funds for RBI Payment Aggregator licence application. Timeline: 3–6 months.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3931920" cy="132588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898648"/>
            <a:ext cx="804672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8986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5216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PMLA / KYC / AML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" y="3172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REGISTRATION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5216" y="340156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payout flow requires KYC for withdrawals above ₹10,000. Built into payout architecture from Day 1.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807208"/>
            <a:ext cx="3931920" cy="132588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2898648"/>
            <a:ext cx="804672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28986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37176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on virtual gifts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37176" y="3172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ON PLATFORM COMMISSION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37176" y="340156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gifts taxed at 18% GST on the platform's commission (not on full gift value). No 28% online money game classification applies.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PA-PG licence application to be filed within 30 days of round close · FIU-IND registration concurrent with creator KYC build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 Crore  ·  12-Month Runway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371600" cy="420624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3167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₹60L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enhance the MVP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1536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(iOS + Android) · Agora live stream SDK · agency dashboard · PK Battle engine · clip feed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1143000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9293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19385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&amp; agency onboarding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1488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creator boost pool (₹500/creator/month × 3 months) + 10 agency partnerships + onboarding incentives + dashboard build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914400" cy="4206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87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2542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0280" y="25511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2761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~51K installs at ₹78 CPI + influencer seeding + ASO + referral program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685800" cy="42062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1546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₹30L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316382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(4 people × 12 months)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11680" y="3374136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Product Lead + 2 Engineers. Lean. Founder-led sales and ops.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320040" cy="42062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12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76732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377647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 &amp; RBI PA-PG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45920" y="398678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formation + RBI payment aggregator licence + KYC infra + GST setup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4379976"/>
            <a:ext cx="137160" cy="42062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37997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3891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infrastructure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63040" y="45994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 streaming infra + CDN + database — sufficient for first 100K users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1261872"/>
            <a:ext cx="2286000" cy="34747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93408" y="1371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2103120"/>
            <a:ext cx="201168" cy="201168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39" name="Text 37"/>
          <p:cNvSpPr/>
          <p:nvPr/>
        </p:nvSpPr>
        <p:spPr>
          <a:xfrm>
            <a:off x="6986016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paying users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2578608"/>
            <a:ext cx="201168" cy="201168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41" name="Text 39"/>
          <p:cNvSpPr/>
          <p:nvPr/>
        </p:nvSpPr>
        <p:spPr>
          <a:xfrm>
            <a:off x="6986016" y="2578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MRR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0840" y="3054096"/>
            <a:ext cx="201168" cy="201168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43" name="Text 41"/>
          <p:cNvSpPr/>
          <p:nvPr/>
        </p:nvSpPr>
        <p:spPr>
          <a:xfrm>
            <a:off x="6986016" y="30540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active creators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3529584"/>
            <a:ext cx="201168" cy="201168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45" name="Text 43"/>
          <p:cNvSpPr/>
          <p:nvPr/>
        </p:nvSpPr>
        <p:spPr>
          <a:xfrm>
            <a:off x="6986016" y="35295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agency contract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0840" y="4005072"/>
            <a:ext cx="201168" cy="201168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47" name="Text 45"/>
          <p:cNvSpPr/>
          <p:nvPr/>
        </p:nvSpPr>
        <p:spPr>
          <a:xfrm>
            <a:off x="6986016" y="4005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on Play Store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93408" y="431596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target: ₹8–12 Cr at Month 12 once milestones hit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F4622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 Crore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12-Month Runway · India-First Live Social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– 15 Cr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 – 17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044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CCPS / SAFE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RIGHTS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observer · Pro-rata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6667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paying users · ₹1.5L MRR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solidFill>
            <a:srgbClr val="F4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contact@vyaraa.com  ·  AlphaNumero  ·  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India's creator monetisation infrastructure.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VYARAA — Pre-Seed Pitch Deck</dc:title>
  <dc:subject>PptxGenJS Presentation</dc:subject>
  <dc:creator>PptxGenJS</dc:creator>
  <cp:lastModifiedBy>PptxGenJS</cp:lastModifiedBy>
  <cp:revision>1</cp:revision>
  <dcterms:created xsi:type="dcterms:W3CDTF">2026-05-03T05:56:53Z</dcterms:created>
  <dcterms:modified xsi:type="dcterms:W3CDTF">2026-05-03T05:56:53Z</dcterms:modified>
</cp:coreProperties>
</file>